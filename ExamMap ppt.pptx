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Times New Roman"/>
              </a:defRPr>
            </a:pPr>
            <a:r>
              <a:t>ExamMap</a:t>
            </a:r>
          </a:p>
          <a:p>
            <a:pPr>
              <a:defRPr sz="3000">
                <a:solidFill>
                  <a:srgbClr val="BED7E6"/>
                </a:solidFill>
                <a:latin typeface="Times New Roman"/>
              </a:defRPr>
            </a:pPr>
            <a:r>
              <a:t>Smart Exam Hall Seat Allotment System</a:t>
            </a:r>
          </a:p>
          <a:p>
            <a:pPr>
              <a:defRPr sz="1800">
                <a:solidFill>
                  <a:srgbClr val="D2DCE2"/>
                </a:solidFill>
                <a:latin typeface="Times New Roman"/>
              </a:defRPr>
            </a:pPr>
            <a:r>
              <a:t>Project Working, Algorithm &amp; Viva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977639"/>
            <a:ext cx="3246120" cy="1325880"/>
          </a:xfrm>
          <a:prstGeom prst="roundRect">
            <a:avLst/>
          </a:prstGeom>
          <a:solidFill>
            <a:srgbClr val="274152"/>
          </a:solidFill>
          <a:ln>
            <a:solidFill>
              <a:srgbClr val="435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605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BEE6"/>
                </a:solidFill>
                <a:latin typeface="Times New Roman"/>
              </a:defRPr>
            </a:pPr>
            <a:r>
              <a:t>INPUT</a:t>
            </a:r>
          </a:p>
          <a:p>
            <a:pPr>
              <a:defRPr sz="1500">
                <a:solidFill>
                  <a:srgbClr val="FFFFFF"/>
                </a:solidFill>
                <a:latin typeface="Times New Roman"/>
              </a:defRPr>
            </a:pPr>
            <a:r>
              <a:t>Student Excel file</a:t>
            </a:r>
            <a:br/>
            <a:r>
              <a:t>Room capacities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977639"/>
            <a:ext cx="3246120" cy="1325880"/>
          </a:xfrm>
          <a:prstGeom prst="roundRect">
            <a:avLst/>
          </a:prstGeom>
          <a:solidFill>
            <a:srgbClr val="274152"/>
          </a:solidFill>
          <a:ln>
            <a:solidFill>
              <a:srgbClr val="435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41605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BEE6"/>
                </a:solidFill>
                <a:latin typeface="Times New Roman"/>
              </a:defRPr>
            </a:pPr>
            <a:r>
              <a:t>PROCESS</a:t>
            </a:r>
          </a:p>
          <a:p>
            <a:pPr>
              <a:defRPr sz="1500">
                <a:solidFill>
                  <a:srgbClr val="FFFFFF"/>
                </a:solidFill>
                <a:latin typeface="Times New Roman"/>
              </a:defRPr>
            </a:pPr>
            <a:r>
              <a:t>Sorting</a:t>
            </a:r>
            <a:br/>
            <a:r>
              <a:t>Branch grouping</a:t>
            </a:r>
            <a:br/>
            <a:r>
              <a:t>Seat allocation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77639"/>
            <a:ext cx="3246120" cy="1325880"/>
          </a:xfrm>
          <a:prstGeom prst="roundRect">
            <a:avLst/>
          </a:prstGeom>
          <a:solidFill>
            <a:srgbClr val="274152"/>
          </a:solidFill>
          <a:ln>
            <a:solidFill>
              <a:srgbClr val="435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41605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EBEE6"/>
                </a:solidFill>
                <a:latin typeface="Times New Roman"/>
              </a:defRPr>
            </a:pPr>
            <a:r>
              <a:t>OUTPUT</a:t>
            </a:r>
          </a:p>
          <a:p>
            <a:pPr>
              <a:defRPr sz="1500">
                <a:solidFill>
                  <a:srgbClr val="FFFFFF"/>
                </a:solidFill>
                <a:latin typeface="Times New Roman"/>
              </a:defRPr>
            </a:pPr>
            <a:r>
              <a:t>Room-wise seat map</a:t>
            </a:r>
            <a:br/>
            <a:r>
              <a:t>Downloadable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3040"/>
                </a:solidFill>
                <a:latin typeface="Times New Roman"/>
              </a:defRPr>
            </a:pPr>
            <a:r>
              <a:t>01 ·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66E"/>
                </a:solidFill>
                <a:latin typeface="Times New Roman"/>
              </a:defRPr>
            </a:pPr>
            <a:r>
              <a:t>Automate the manual process of exam hall seat allotment.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74B0"/>
                </a:solidFill>
                <a:latin typeface="Times New Roman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302666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Manual seat allocation can take time when student lists and room capacities change.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Students need to be mapped to specific rooms and seat positions.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The system should produce a clear room-wise arrangement.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290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63624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9158"/>
                </a:solidFill>
                <a:latin typeface="Times New Roman"/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2666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Accept student IDs through an Excel file.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Accept room capacities from the user.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Process and organize students automatically.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Display a structured seating arrangement.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Provide an Excel file for the final allotment.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1417320"/>
            <a:ext cx="3429000" cy="425196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563624"/>
            <a:ext cx="30266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7D2D"/>
                </a:solidFill>
                <a:latin typeface="Times New Roman"/>
              </a:defRPr>
            </a:pPr>
            <a:r>
              <a:t>Project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011680"/>
            <a:ext cx="302666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Client-side implementation using HTML, CSS and JavaScript.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SheetJS is used for Excel input and output.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No server or database is required for the current implementation.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The result is generated directly in the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02 · Technology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3D7E4"/>
                </a:solidFill>
                <a:latin typeface="Times New Roman"/>
              </a:defRPr>
            </a:pPr>
            <a:r>
              <a:t>How the different parts of ExamMap work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74519" cy="1005840"/>
          </a:xfrm>
          <a:prstGeom prst="roundRect">
            <a:avLst/>
          </a:prstGeom>
          <a:solidFill>
            <a:srgbClr val="274152"/>
          </a:solidFill>
          <a:ln>
            <a:solidFill>
              <a:srgbClr val="26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HTML</a:t>
            </a:r>
            <a:br/>
            <a:r>
              <a:t>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21762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3E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1874519" cy="1005840"/>
          </a:xfrm>
          <a:prstGeom prst="roundRect">
            <a:avLst/>
          </a:prstGeom>
          <a:solidFill>
            <a:srgbClr val="274152"/>
          </a:solidFill>
          <a:ln>
            <a:solidFill>
              <a:srgbClr val="26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CSS</a:t>
            </a:r>
            <a:br/>
            <a:r>
              <a:t>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1762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3E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828800"/>
            <a:ext cx="1874519" cy="1005840"/>
          </a:xfrm>
          <a:prstGeom prst="roundRect">
            <a:avLst/>
          </a:prstGeom>
          <a:solidFill>
            <a:srgbClr val="274152"/>
          </a:solidFill>
          <a:ln>
            <a:solidFill>
              <a:srgbClr val="26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799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JavaScript</a:t>
            </a:r>
            <a:br/>
            <a: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21762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3E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28800"/>
            <a:ext cx="1874519" cy="1005840"/>
          </a:xfrm>
          <a:prstGeom prst="roundRect">
            <a:avLst/>
          </a:prstGeom>
          <a:solidFill>
            <a:srgbClr val="274152"/>
          </a:solidFill>
          <a:ln>
            <a:solidFill>
              <a:srgbClr val="26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SheetJS</a:t>
            </a:r>
            <a:br/>
            <a:r>
              <a:t>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1762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C3E6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1874519" cy="1005840"/>
          </a:xfrm>
          <a:prstGeom prst="roundRect">
            <a:avLst/>
          </a:prstGeom>
          <a:solidFill>
            <a:srgbClr val="274152"/>
          </a:solidFill>
          <a:ln>
            <a:solidFill>
              <a:srgbClr val="267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0574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Result</a:t>
            </a:r>
            <a:br/>
            <a:r>
              <a:t>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337560"/>
            <a:ext cx="4800600" cy="205740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483864"/>
            <a:ext cx="4398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74B0"/>
                </a:solidFill>
                <a:latin typeface="Times New Roman"/>
              </a:defRPr>
            </a:pPr>
            <a:r>
              <a:t>Input &amp;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931920"/>
            <a:ext cx="4398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1. User uploads .xlsx student data.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2. User enters capacities such as 30,25,50.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3. JavaScript validates the input and starts the allocation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337560"/>
            <a:ext cx="4800600" cy="205740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483864"/>
            <a:ext cx="4398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9158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3931920"/>
            <a:ext cx="439826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1. Room-wise tables are created dynamically.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2. Each occupied cell shows a seat number and student ID.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3. A downloadable ExamMap_Seat_Allotment.xlsx file is generated.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3040"/>
                </a:solidFill>
                <a:latin typeface="Times New Roman"/>
              </a:defRPr>
            </a:pPr>
            <a:r>
              <a:t>03 · Algorithm — Nested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66E"/>
                </a:solidFill>
                <a:latin typeface="Times New Roman"/>
              </a:defRPr>
            </a:pPr>
            <a:r>
              <a:t>The actual seating structure is generated using two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754880" cy="443484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43525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74B0"/>
                </a:solidFill>
                <a:latin typeface="Times New Roman"/>
              </a:defRPr>
            </a:pPr>
            <a:r>
              <a:t>Nested Loop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435254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Outer loop: iterates through each row of a room.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Inner loop: iterates through the three seat positions in that row.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rowCapacity is fixed at 3 in the current code.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studentIndex = i + j × totalRows selects the student for a position.</a:t>
            </a:r>
          </a:p>
          <a:p>
            <a:pPr>
              <a:spcAft>
                <a:spcPts val="800"/>
              </a:spcAft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Empty positions are filled with an empty string when the room is not full.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417320"/>
            <a:ext cx="5989320" cy="4434840"/>
          </a:xfrm>
          <a:prstGeom prst="roundRect">
            <a:avLst/>
          </a:prstGeom>
          <a:solidFill>
            <a:srgbClr val="F8FAFB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691640"/>
            <a:ext cx="5440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for (let i = 0; i &lt; totalRows; i++) {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const row = [];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for (let j = 0; j &lt; rowCapacity; j++) {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const studentIndex =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    i + j * totalRows;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if (studentIndex &lt; roomStudents.length)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    row.push(roomStudents[studentIndex]);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else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        row.push("");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    rows.push(row);</a:t>
            </a:r>
          </a:p>
          <a:p>
            <a:pPr>
              <a:spcAft>
                <a:spcPts val="400"/>
              </a:spcAft>
              <a:defRPr sz="1400">
                <a:solidFill>
                  <a:srgbClr val="283037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5212080"/>
            <a:ext cx="5440680" cy="384048"/>
          </a:xfrm>
          <a:prstGeom prst="roundRect">
            <a:avLst/>
          </a:prstGeom>
          <a:solidFill>
            <a:srgbClr val="E1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5294376"/>
            <a:ext cx="5257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C3040"/>
                </a:solidFill>
                <a:latin typeface="Times New Roman"/>
              </a:defRPr>
            </a:pPr>
            <a:r>
              <a:t>Outer loop = rows  |  Inner loop = 3 seat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Times New Roman"/>
              </a:defRPr>
            </a:pPr>
            <a:r>
              <a:t>04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3D7E4"/>
                </a:solidFill>
                <a:latin typeface="Times New Roman"/>
              </a:defRPr>
            </a:pPr>
            <a:r>
              <a:t>Illustrating the actual index-based arrangement.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3200400" cy="530352"/>
          </a:xfrm>
          <a:prstGeom prst="roundRect">
            <a:avLst/>
          </a:prstGeom>
          <a:solidFill>
            <a:srgbClr val="267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2821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Seat Position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200400" cy="530352"/>
          </a:xfrm>
          <a:prstGeom prst="roundRect">
            <a:avLst/>
          </a:prstGeom>
          <a:solidFill>
            <a:srgbClr val="267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72821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Seat Position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00200"/>
            <a:ext cx="3200400" cy="530352"/>
          </a:xfrm>
          <a:prstGeom prst="roundRect">
            <a:avLst/>
          </a:prstGeom>
          <a:solidFill>
            <a:srgbClr val="267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2821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Seat Position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86000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23160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A1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0, col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286000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423160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A2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0, col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286000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423160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A3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0, col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56432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593591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B1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1, col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56432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593591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B2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1, col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456432"/>
            <a:ext cx="3200400" cy="960120"/>
          </a:xfrm>
          <a:prstGeom prst="roundRect">
            <a:avLst/>
          </a:prstGeom>
          <a:solidFill>
            <a:srgbClr val="274152"/>
          </a:solidFill>
          <a:ln>
            <a:solidFill>
              <a:srgbClr val="4B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593591"/>
            <a:ext cx="298094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B3</a:t>
            </a:r>
          </a:p>
          <a:p>
            <a:pPr algn="ctr">
              <a:defRPr sz="1200">
                <a:solidFill>
                  <a:srgbClr val="C3D7E1"/>
                </a:solidFill>
                <a:latin typeface="Times New Roman"/>
              </a:defRPr>
            </a:pPr>
            <a:r>
              <a:t>row 1, col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60"/>
            <a:ext cx="10012680" cy="1417320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398264"/>
            <a:ext cx="96103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7D2D"/>
                </a:solidFill>
                <a:latin typeface="Times New Roman"/>
              </a:defRPr>
            </a:pPr>
            <a:r>
              <a:t>Important: This is not simple sequential row-wise assignment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846320"/>
            <a:ext cx="96103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83037"/>
                </a:solidFill>
                <a:latin typeface="Times New Roman"/>
              </a:defRPr>
            </a:pPr>
            <a:r>
              <a:t>The code calculates studentIndex = i + j × totalRows. Therefore, the exact student order depends on the number of rows in that room.</a:t>
            </a:r>
          </a:p>
          <a:p>
            <a:pPr>
              <a:spcAft>
                <a:spcPts val="800"/>
              </a:spcAft>
              <a:defRPr sz="1300">
                <a:solidFill>
                  <a:srgbClr val="283037"/>
                </a:solidFill>
                <a:latin typeface="Times New Roman"/>
              </a:defRPr>
            </a:pPr>
            <a:r>
              <a:t>The display function separately creates the visible labels A1, A2, A3, B1, B2, B3 from row and column indices.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3040"/>
                </a:solidFill>
                <a:latin typeface="Times New Roman"/>
              </a:defRPr>
            </a:pPr>
            <a:r>
              <a:t>05 · Complete Working &amp; Viva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66E"/>
                </a:solidFill>
                <a:latin typeface="Times New Roman"/>
              </a:defRPr>
            </a:pPr>
            <a:r>
              <a:t>A concise explanation you can use during the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1. Upload Excel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36192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2. Read first worksheet using SheetJS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3. Extract non-empty student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67128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4. Sort by year → branch → number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35808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5. Group students by 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916936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35808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6. Alternate students between branches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85615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7. Split students according to room capacities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66744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85615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8. Use nested loops to build 3-seat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16552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3542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9. Generate seat labels and display 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16552"/>
            <a:ext cx="5166360" cy="530352"/>
          </a:xfrm>
          <a:prstGeom prst="roundRect">
            <a:avLst/>
          </a:prstGeom>
          <a:solidFill>
            <a:srgbClr val="F3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535424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7"/>
                </a:solidFill>
                <a:latin typeface="Times New Roman"/>
              </a:defRPr>
            </a:pPr>
            <a:r>
              <a:t>10. Export room-wise Excel workbook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49240"/>
            <a:ext cx="10881360" cy="777240"/>
          </a:xfrm>
          <a:prstGeom prst="roundRect">
            <a:avLst/>
          </a:prstGeom>
          <a:solidFill>
            <a:srgbClr val="1C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04688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Viva answer: “We use a nested-loop based seat allocation algorithm. The outer loop handles rows, the inner loop handles the three seat positions, and an index calculation distributes students into the seating structure.”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66E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